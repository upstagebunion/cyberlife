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4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65A64-35B6-40A9-8A34-06194A7E0A08}" type="datetimeFigureOut">
              <a:rPr lang="es-MX" smtClean="0"/>
              <a:t>04/05/2020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95FDA-D29C-4B8E-B76A-9C4B0A4C0B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0402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García Solís Francisco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95FDA-D29C-4B8E-B76A-9C4B0A4C0B3F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993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García Solís Francisco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295FDA-D29C-4B8E-B76A-9C4B0A4C0B3F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074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04/05/2020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1472" y="1357298"/>
            <a:ext cx="814393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 smtClean="0"/>
              <a:t>Ejemplo:</a:t>
            </a:r>
          </a:p>
          <a:p>
            <a:pPr algn="just"/>
            <a:endParaRPr lang="es-MX" sz="2000" b="1" dirty="0" smtClean="0"/>
          </a:p>
          <a:p>
            <a:pPr algn="just"/>
            <a:r>
              <a:rPr lang="es-MX" sz="2000" b="1" dirty="0" smtClean="0"/>
              <a:t>Calcular la probabilidad de obtener Cara y un número par al lanzar una moneda y un dado.</a:t>
            </a:r>
            <a:r>
              <a:rPr lang="es-MX" sz="2000" dirty="0" smtClean="0"/>
              <a:t> </a:t>
            </a:r>
          </a:p>
          <a:p>
            <a:pPr algn="just"/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r>
              <a:rPr lang="es-MX" sz="2000" dirty="0" err="1" smtClean="0"/>
              <a:t>Prob</a:t>
            </a:r>
            <a:r>
              <a:rPr lang="es-MX" sz="2000" dirty="0" smtClean="0"/>
              <a:t> del evento E ={ </a:t>
            </a:r>
            <a:r>
              <a:rPr lang="es-MX" sz="2000" dirty="0" smtClean="0"/>
              <a:t>(H2), (H4), (H6)}                       </a:t>
            </a:r>
            <a:r>
              <a:rPr lang="es-MX" sz="2000" dirty="0" smtClean="0"/>
              <a:t>Número de casos favorables</a:t>
            </a:r>
          </a:p>
          <a:p>
            <a:pPr algn="just"/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r>
              <a:rPr lang="es-MX" sz="2000" dirty="0" err="1" smtClean="0"/>
              <a:t>Num</a:t>
            </a:r>
            <a:r>
              <a:rPr lang="es-MX" sz="2000" dirty="0" smtClean="0"/>
              <a:t> total de resultados posibles S ={ </a:t>
            </a:r>
            <a:r>
              <a:rPr lang="es-MX" sz="2000" dirty="0" smtClean="0"/>
              <a:t>(H1), (H2),  (H3), (H4), (H5), (H6), (T1), (T2), (T3), (T4), (T5), (T6),}</a:t>
            </a:r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r>
              <a:rPr lang="es-MX" sz="2000" dirty="0" smtClean="0"/>
              <a:t>		 </a:t>
            </a:r>
            <a:r>
              <a:rPr lang="es-MX" sz="2000" dirty="0" smtClean="0"/>
              <a:t>3                   1               </a:t>
            </a:r>
            <a:endParaRPr lang="es-MX" sz="2000" dirty="0" smtClean="0"/>
          </a:p>
          <a:p>
            <a:pPr algn="just"/>
            <a:r>
              <a:rPr lang="es-MX" sz="2000" dirty="0" smtClean="0"/>
              <a:t>		12	      4</a:t>
            </a:r>
            <a:endParaRPr lang="es-MX" sz="2000" dirty="0"/>
          </a:p>
        </p:txBody>
      </p:sp>
      <p:sp>
        <p:nvSpPr>
          <p:cNvPr id="5" name="4 CuadroTexto"/>
          <p:cNvSpPr txBox="1"/>
          <p:nvPr/>
        </p:nvSpPr>
        <p:spPr>
          <a:xfrm>
            <a:off x="2714612" y="142852"/>
            <a:ext cx="378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2.3 espacio muestral y eventos</a:t>
            </a:r>
            <a:endParaRPr lang="es-MX" b="1" dirty="0"/>
          </a:p>
        </p:txBody>
      </p:sp>
      <p:grpSp>
        <p:nvGrpSpPr>
          <p:cNvPr id="2" name="7 Grupo"/>
          <p:cNvGrpSpPr/>
          <p:nvPr/>
        </p:nvGrpSpPr>
        <p:grpSpPr>
          <a:xfrm>
            <a:off x="2428860" y="745977"/>
            <a:ext cx="4329112" cy="682759"/>
            <a:chOff x="4643438" y="1928802"/>
            <a:chExt cx="4329112" cy="682759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/>
            <a:srcRect l="53031"/>
            <a:stretch>
              <a:fillRect/>
            </a:stretch>
          </p:blipFill>
          <p:spPr bwMode="auto">
            <a:xfrm>
              <a:off x="5429256" y="1928802"/>
              <a:ext cx="3543294" cy="682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/>
            <a:srcRect r="89583"/>
            <a:stretch>
              <a:fillRect/>
            </a:stretch>
          </p:blipFill>
          <p:spPr bwMode="auto">
            <a:xfrm>
              <a:off x="4643438" y="1928802"/>
              <a:ext cx="785818" cy="682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cxnSp>
        <p:nvCxnSpPr>
          <p:cNvPr id="10" name="9 Conector recto de flecha"/>
          <p:cNvCxnSpPr/>
          <p:nvPr/>
        </p:nvCxnSpPr>
        <p:spPr>
          <a:xfrm>
            <a:off x="4986325" y="3707887"/>
            <a:ext cx="71438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21 Grupo"/>
          <p:cNvGrpSpPr/>
          <p:nvPr/>
        </p:nvGrpSpPr>
        <p:grpSpPr>
          <a:xfrm>
            <a:off x="571472" y="5922839"/>
            <a:ext cx="5286412" cy="655084"/>
            <a:chOff x="571472" y="5214950"/>
            <a:chExt cx="5286412" cy="655084"/>
          </a:xfrm>
        </p:grpSpPr>
        <p:cxnSp>
          <p:nvCxnSpPr>
            <p:cNvPr id="13" name="12 Conector recto"/>
            <p:cNvCxnSpPr/>
            <p:nvPr/>
          </p:nvCxnSpPr>
          <p:spPr>
            <a:xfrm>
              <a:off x="1299920" y="5542906"/>
              <a:ext cx="71438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13 CuadroTexto"/>
            <p:cNvSpPr txBox="1"/>
            <p:nvPr/>
          </p:nvSpPr>
          <p:spPr>
            <a:xfrm>
              <a:off x="1357290" y="5500702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n(S)</a:t>
              </a:r>
              <a:endParaRPr lang="es-MX" dirty="0"/>
            </a:p>
          </p:txBody>
        </p:sp>
        <p:cxnSp>
          <p:nvCxnSpPr>
            <p:cNvPr id="16" name="15 Conector recto"/>
            <p:cNvCxnSpPr/>
            <p:nvPr/>
          </p:nvCxnSpPr>
          <p:spPr>
            <a:xfrm>
              <a:off x="3500430" y="5542906"/>
              <a:ext cx="71438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>
              <a:off x="2357422" y="5544004"/>
              <a:ext cx="71438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17 CuadroTexto"/>
            <p:cNvSpPr txBox="1"/>
            <p:nvPr/>
          </p:nvSpPr>
          <p:spPr>
            <a:xfrm>
              <a:off x="1357290" y="5214950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n(E)</a:t>
              </a:r>
              <a:endParaRPr lang="es-MX" dirty="0"/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4438648" y="5353282"/>
              <a:ext cx="1419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  </a:t>
              </a:r>
              <a:r>
                <a:rPr lang="es-MX" dirty="0" smtClean="0"/>
                <a:t>.25  =   25% </a:t>
              </a:r>
              <a:endParaRPr lang="es-MX" dirty="0"/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571472" y="5357826"/>
              <a:ext cx="8477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P(E) =</a:t>
              </a:r>
              <a:endParaRPr lang="es-MX" dirty="0"/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2000232" y="5357826"/>
              <a:ext cx="3529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 smtClean="0"/>
                <a:t> =</a:t>
              </a:r>
              <a:endParaRPr lang="es-MX" dirty="0"/>
            </a:p>
          </p:txBody>
        </p:sp>
        <p:sp>
          <p:nvSpPr>
            <p:cNvPr id="20" name="19 Rectángulo"/>
            <p:cNvSpPr/>
            <p:nvPr/>
          </p:nvSpPr>
          <p:spPr>
            <a:xfrm>
              <a:off x="3143240" y="5357826"/>
              <a:ext cx="3529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 smtClean="0"/>
                <a:t> =</a:t>
              </a:r>
              <a:endParaRPr lang="es-MX" dirty="0"/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4286248" y="5357826"/>
              <a:ext cx="3529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 smtClean="0"/>
                <a:t> =</a:t>
              </a:r>
              <a:endParaRPr lang="es-MX" dirty="0"/>
            </a:p>
          </p:txBody>
        </p:sp>
      </p:grpSp>
      <p:sp>
        <p:nvSpPr>
          <p:cNvPr id="23" name="22 CuadroTexto"/>
          <p:cNvSpPr txBox="1"/>
          <p:nvPr/>
        </p:nvSpPr>
        <p:spPr>
          <a:xfrm>
            <a:off x="3286116" y="2643182"/>
            <a:ext cx="2500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 smtClean="0"/>
              <a:t>DATOS DE EVENTO</a:t>
            </a:r>
            <a:endParaRPr lang="es-MX" sz="1600" b="1" dirty="0"/>
          </a:p>
        </p:txBody>
      </p:sp>
      <p:cxnSp>
        <p:nvCxnSpPr>
          <p:cNvPr id="35" name="34 Conector angular"/>
          <p:cNvCxnSpPr/>
          <p:nvPr/>
        </p:nvCxnSpPr>
        <p:spPr>
          <a:xfrm rot="5400000">
            <a:off x="3964777" y="3036091"/>
            <a:ext cx="571504" cy="5000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35 CuadroTexto"/>
          <p:cNvSpPr txBox="1"/>
          <p:nvPr/>
        </p:nvSpPr>
        <p:spPr>
          <a:xfrm>
            <a:off x="3714744" y="4000504"/>
            <a:ext cx="3071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 smtClean="0"/>
              <a:t>DATOS DE RESULTADOS POSIBLES</a:t>
            </a:r>
            <a:endParaRPr lang="es-MX" sz="1600" b="1" dirty="0"/>
          </a:p>
        </p:txBody>
      </p:sp>
      <p:cxnSp>
        <p:nvCxnSpPr>
          <p:cNvPr id="37" name="36 Conector angular"/>
          <p:cNvCxnSpPr/>
          <p:nvPr/>
        </p:nvCxnSpPr>
        <p:spPr>
          <a:xfrm rot="5400000">
            <a:off x="5250661" y="4250537"/>
            <a:ext cx="571504" cy="5000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1472" y="1357298"/>
            <a:ext cx="814393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dirty="0" smtClean="0"/>
              <a:t>Ejemplo:</a:t>
            </a:r>
          </a:p>
          <a:p>
            <a:pPr algn="just"/>
            <a:endParaRPr lang="es-MX" sz="2000" b="1" dirty="0" smtClean="0"/>
          </a:p>
          <a:p>
            <a:pPr algn="just"/>
            <a:r>
              <a:rPr lang="es-MX" sz="2000" b="1" dirty="0" smtClean="0"/>
              <a:t>Calcular la probabilidad de obtener Cruz y un número mayor que 4 al lanzar una moneda y un dado.</a:t>
            </a:r>
            <a:r>
              <a:rPr lang="es-MX" sz="2000" dirty="0" smtClean="0"/>
              <a:t> </a:t>
            </a:r>
          </a:p>
          <a:p>
            <a:pPr algn="just"/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r>
              <a:rPr lang="es-MX" sz="2000" dirty="0" err="1" smtClean="0"/>
              <a:t>Prob</a:t>
            </a:r>
            <a:r>
              <a:rPr lang="es-MX" sz="2000" dirty="0" smtClean="0"/>
              <a:t> del evento E ={ </a:t>
            </a:r>
            <a:r>
              <a:rPr lang="es-MX" sz="2000" dirty="0" smtClean="0"/>
              <a:t>(T5), (T6)}                 </a:t>
            </a:r>
            <a:r>
              <a:rPr lang="es-MX" sz="2000" dirty="0" smtClean="0"/>
              <a:t>Número de casos favorables</a:t>
            </a:r>
          </a:p>
          <a:p>
            <a:pPr algn="just"/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r>
              <a:rPr lang="es-MX" sz="2000" dirty="0" err="1" smtClean="0"/>
              <a:t>Num</a:t>
            </a:r>
            <a:r>
              <a:rPr lang="es-MX" sz="2000" dirty="0" smtClean="0"/>
              <a:t> total de resultados posibles S </a:t>
            </a:r>
            <a:r>
              <a:rPr lang="es-MX" sz="2000" dirty="0"/>
              <a:t>={(H1), (H2),  (H3), (H4), (H5), (H6), (T1), (T2), (T3), (T4), (T5), (</a:t>
            </a:r>
            <a:r>
              <a:rPr lang="es-MX" sz="2000" dirty="0" smtClean="0"/>
              <a:t>T6),}</a:t>
            </a:r>
            <a:endParaRPr lang="es-MX" sz="2000" dirty="0" smtClean="0"/>
          </a:p>
          <a:p>
            <a:pPr algn="just"/>
            <a:endParaRPr lang="es-MX" sz="2000" dirty="0" smtClean="0"/>
          </a:p>
          <a:p>
            <a:pPr algn="just"/>
            <a:r>
              <a:rPr lang="es-MX" sz="2000" dirty="0" smtClean="0"/>
              <a:t>    </a:t>
            </a:r>
            <a:r>
              <a:rPr lang="es-MX" sz="2000" dirty="0" smtClean="0"/>
              <a:t>		  2	       1</a:t>
            </a:r>
            <a:endParaRPr lang="es-MX" sz="2000" dirty="0" smtClean="0"/>
          </a:p>
          <a:p>
            <a:pPr algn="just"/>
            <a:r>
              <a:rPr lang="es-MX" sz="2000" dirty="0" smtClean="0"/>
              <a:t>		 12                  6</a:t>
            </a:r>
            <a:endParaRPr lang="es-MX" sz="2000" dirty="0"/>
          </a:p>
        </p:txBody>
      </p:sp>
      <p:sp>
        <p:nvSpPr>
          <p:cNvPr id="5" name="4 CuadroTexto"/>
          <p:cNvSpPr txBox="1"/>
          <p:nvPr/>
        </p:nvSpPr>
        <p:spPr>
          <a:xfrm>
            <a:off x="2714612" y="214290"/>
            <a:ext cx="3786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2.3 espacio muestral y eventos</a:t>
            </a:r>
            <a:endParaRPr lang="es-MX" b="1" dirty="0"/>
          </a:p>
        </p:txBody>
      </p:sp>
      <p:grpSp>
        <p:nvGrpSpPr>
          <p:cNvPr id="2" name="7 Grupo"/>
          <p:cNvGrpSpPr/>
          <p:nvPr/>
        </p:nvGrpSpPr>
        <p:grpSpPr>
          <a:xfrm>
            <a:off x="2357422" y="745977"/>
            <a:ext cx="4329112" cy="682759"/>
            <a:chOff x="4643438" y="1928802"/>
            <a:chExt cx="4329112" cy="682759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/>
            <a:srcRect l="53031"/>
            <a:stretch>
              <a:fillRect/>
            </a:stretch>
          </p:blipFill>
          <p:spPr bwMode="auto">
            <a:xfrm>
              <a:off x="5429256" y="1928802"/>
              <a:ext cx="3543294" cy="682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/>
            <a:srcRect r="89583"/>
            <a:stretch>
              <a:fillRect/>
            </a:stretch>
          </p:blipFill>
          <p:spPr bwMode="auto">
            <a:xfrm>
              <a:off x="4643438" y="1928802"/>
              <a:ext cx="785818" cy="6827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cxnSp>
        <p:nvCxnSpPr>
          <p:cNvPr id="10" name="9 Conector recto de flecha"/>
          <p:cNvCxnSpPr/>
          <p:nvPr/>
        </p:nvCxnSpPr>
        <p:spPr>
          <a:xfrm>
            <a:off x="4000496" y="3713164"/>
            <a:ext cx="714380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14 Grupo"/>
          <p:cNvGrpSpPr/>
          <p:nvPr/>
        </p:nvGrpSpPr>
        <p:grpSpPr>
          <a:xfrm>
            <a:off x="571472" y="5650781"/>
            <a:ext cx="5286412" cy="655084"/>
            <a:chOff x="571472" y="5214950"/>
            <a:chExt cx="5286412" cy="655084"/>
          </a:xfrm>
        </p:grpSpPr>
        <p:cxnSp>
          <p:nvCxnSpPr>
            <p:cNvPr id="19" name="18 Conector recto"/>
            <p:cNvCxnSpPr/>
            <p:nvPr/>
          </p:nvCxnSpPr>
          <p:spPr>
            <a:xfrm>
              <a:off x="1299920" y="5542906"/>
              <a:ext cx="71438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19 CuadroTexto"/>
            <p:cNvSpPr txBox="1"/>
            <p:nvPr/>
          </p:nvSpPr>
          <p:spPr>
            <a:xfrm>
              <a:off x="1357290" y="5500702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n(S)</a:t>
              </a:r>
              <a:endParaRPr lang="es-MX" dirty="0"/>
            </a:p>
          </p:txBody>
        </p:sp>
        <p:cxnSp>
          <p:nvCxnSpPr>
            <p:cNvPr id="21" name="20 Conector recto"/>
            <p:cNvCxnSpPr/>
            <p:nvPr/>
          </p:nvCxnSpPr>
          <p:spPr>
            <a:xfrm>
              <a:off x="3500430" y="5542906"/>
              <a:ext cx="71438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>
              <a:off x="2357422" y="5544004"/>
              <a:ext cx="71438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22 CuadroTexto"/>
            <p:cNvSpPr txBox="1"/>
            <p:nvPr/>
          </p:nvSpPr>
          <p:spPr>
            <a:xfrm>
              <a:off x="1357290" y="5214950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n(E)</a:t>
              </a:r>
              <a:endParaRPr lang="es-MX" dirty="0"/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4438648" y="5353282"/>
              <a:ext cx="1419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 </a:t>
              </a:r>
              <a:r>
                <a:rPr lang="es-MX" dirty="0" smtClean="0"/>
                <a:t>0.1666=16% </a:t>
              </a:r>
              <a:endParaRPr lang="es-MX" dirty="0"/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571472" y="5357826"/>
              <a:ext cx="8477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 smtClean="0"/>
                <a:t>P(E) =</a:t>
              </a:r>
              <a:endParaRPr lang="es-MX" dirty="0"/>
            </a:p>
          </p:txBody>
        </p:sp>
        <p:sp>
          <p:nvSpPr>
            <p:cNvPr id="27" name="26 Rectángulo"/>
            <p:cNvSpPr/>
            <p:nvPr/>
          </p:nvSpPr>
          <p:spPr>
            <a:xfrm>
              <a:off x="2000232" y="5357826"/>
              <a:ext cx="3529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 smtClean="0"/>
                <a:t> =</a:t>
              </a:r>
              <a:endParaRPr lang="es-MX" dirty="0"/>
            </a:p>
          </p:txBody>
        </p:sp>
        <p:sp>
          <p:nvSpPr>
            <p:cNvPr id="28" name="27 Rectángulo"/>
            <p:cNvSpPr/>
            <p:nvPr/>
          </p:nvSpPr>
          <p:spPr>
            <a:xfrm>
              <a:off x="3143240" y="5357826"/>
              <a:ext cx="3529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 smtClean="0"/>
                <a:t> =</a:t>
              </a:r>
              <a:endParaRPr lang="es-MX" dirty="0"/>
            </a:p>
          </p:txBody>
        </p:sp>
        <p:sp>
          <p:nvSpPr>
            <p:cNvPr id="29" name="28 Rectángulo"/>
            <p:cNvSpPr/>
            <p:nvPr/>
          </p:nvSpPr>
          <p:spPr>
            <a:xfrm>
              <a:off x="4286248" y="5357826"/>
              <a:ext cx="3529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MX" dirty="0" smtClean="0"/>
                <a:t> =</a:t>
              </a:r>
              <a:endParaRPr lang="es-MX" dirty="0"/>
            </a:p>
          </p:txBody>
        </p:sp>
      </p:grpSp>
      <p:sp>
        <p:nvSpPr>
          <p:cNvPr id="30" name="29 CuadroTexto"/>
          <p:cNvSpPr txBox="1"/>
          <p:nvPr/>
        </p:nvSpPr>
        <p:spPr>
          <a:xfrm>
            <a:off x="3286116" y="2643182"/>
            <a:ext cx="2500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 smtClean="0"/>
              <a:t>DATOS DE EVENTO</a:t>
            </a:r>
            <a:endParaRPr lang="es-MX" sz="1600" b="1" dirty="0"/>
          </a:p>
        </p:txBody>
      </p:sp>
      <p:cxnSp>
        <p:nvCxnSpPr>
          <p:cNvPr id="31" name="30 Conector angular"/>
          <p:cNvCxnSpPr/>
          <p:nvPr/>
        </p:nvCxnSpPr>
        <p:spPr>
          <a:xfrm rot="5400000">
            <a:off x="3250397" y="2964653"/>
            <a:ext cx="571504" cy="5000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CuadroTexto"/>
          <p:cNvSpPr txBox="1"/>
          <p:nvPr/>
        </p:nvSpPr>
        <p:spPr>
          <a:xfrm>
            <a:off x="5500694" y="4000504"/>
            <a:ext cx="3071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 smtClean="0"/>
              <a:t>DATOS DE RESULTADOS POSIBLES</a:t>
            </a:r>
            <a:endParaRPr lang="es-MX" sz="1600" b="1" dirty="0"/>
          </a:p>
        </p:txBody>
      </p:sp>
      <p:cxnSp>
        <p:nvCxnSpPr>
          <p:cNvPr id="33" name="32 Conector angular"/>
          <p:cNvCxnSpPr/>
          <p:nvPr/>
        </p:nvCxnSpPr>
        <p:spPr>
          <a:xfrm rot="5400000">
            <a:off x="6322231" y="4321975"/>
            <a:ext cx="571504" cy="5000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228</Words>
  <Application>Microsoft Office PowerPoint</Application>
  <PresentationFormat>Presentación en pantalla (4:3)</PresentationFormat>
  <Paragraphs>52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Charly75</dc:creator>
  <cp:lastModifiedBy>Francisco Garcia</cp:lastModifiedBy>
  <cp:revision>11</cp:revision>
  <dcterms:created xsi:type="dcterms:W3CDTF">2020-04-29T19:14:30Z</dcterms:created>
  <dcterms:modified xsi:type="dcterms:W3CDTF">2020-05-04T17:15:21Z</dcterms:modified>
</cp:coreProperties>
</file>